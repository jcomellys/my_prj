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2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1965960"/>
            <a:ext cx="2926080" cy="2926080"/>
          </a:xfrm>
          <a:prstGeom prst="ellipse">
            <a:avLst/>
          </a:prstGeom>
          <a:noFill/>
          <a:ln w="13970">
            <a:solidFill>
              <a:srgbClr val="F5A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43900" y="2263140"/>
            <a:ext cx="2331720" cy="2331720"/>
          </a:xfrm>
          <a:prstGeom prst="ellipse">
            <a:avLst/>
          </a:prstGeom>
          <a:noFill/>
          <a:ln w="13970">
            <a:solidFill>
              <a:srgbClr val="F5A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41080" y="2560320"/>
            <a:ext cx="1737360" cy="1737360"/>
          </a:xfrm>
          <a:prstGeom prst="ellipse">
            <a:avLst/>
          </a:prstGeom>
          <a:noFill/>
          <a:ln w="13970">
            <a:solidFill>
              <a:srgbClr val="F5A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38260" y="2857500"/>
            <a:ext cx="1143000" cy="1143000"/>
          </a:xfrm>
          <a:prstGeom prst="ellipse">
            <a:avLst/>
          </a:prstGeom>
          <a:noFill/>
          <a:ln w="13970">
            <a:solidFill>
              <a:srgbClr val="F5A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90888" y="1874519"/>
            <a:ext cx="237744" cy="3108960"/>
          </a:xfrm>
          <a:prstGeom prst="round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00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PRESENTACION INSTITUCIONAL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144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F5A64B"/>
                </a:solidFill>
                <a:latin typeface="Calibri"/>
              </a:rPr>
              <a:t>Capacitacion Tecnica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749807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Magnetismo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5A64B"/>
                </a:solidFill>
                <a:latin typeface="Calibri"/>
              </a:rPr>
              <a:t>y Fundamentos del Magnetismo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16052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9D3DE"/>
                </a:solidFill>
                <a:latin typeface="Calibri"/>
              </a:rPr>
              <a:t>Principios fisicos aplicados a motores, generadores y transformadores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" y="4892040"/>
            <a:ext cx="2194560" cy="3175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59436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AFBCCB"/>
                </a:solidFill>
                <a:latin typeface="Calibri"/>
              </a:rPr>
              <a:t>Modulo 1  ·  Transformadores: Principios y Aplicaciones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1089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26E82"/>
                </a:solidFill>
                <a:latin typeface="Calibri"/>
              </a:rPr>
              <a:t>CONTENIDO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6692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F2A44"/>
                </a:solidFill>
                <a:latin typeface="Calibri"/>
              </a:rPr>
              <a:t>Agenda de la sesion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207008"/>
            <a:ext cx="12191695" cy="279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207008"/>
            <a:ext cx="2926080" cy="2794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0"/>
                </a:solidFill>
                <a:latin typeface="Calibri"/>
              </a:rPr>
              <a:t>Fundamentos de Transformadores  |  Principios y Aplicaciones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E87A22"/>
                </a:solidFill>
                <a:latin typeface="Calibri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00200"/>
            <a:ext cx="5440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C"/>
            </a:solidFill>
          </a:ln>
          <a:effectLst/>
          <a:effectLst>
            <a:outerShdw blurRad="90000" dist="40000" dir="5400000" rotWithShape="0">
              <a:srgbClr val="1F2A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600200"/>
            <a:ext cx="128016" cy="132588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1764792"/>
            <a:ext cx="1097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26E82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837944"/>
            <a:ext cx="3977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Que es el magnetismo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670"/>
                </a:solidFill>
                <a:latin typeface="Calibri"/>
              </a:rPr>
              <a:t>Definicion y relevancia industrial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600200"/>
            <a:ext cx="5440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C"/>
            </a:solidFill>
          </a:ln>
          <a:effectLst/>
          <a:effectLst>
            <a:outerShdw blurRad="90000" dist="40000" dir="5400000" rotWithShape="0">
              <a:srgbClr val="1F2A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600200"/>
            <a:ext cx="128016" cy="132588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1764792"/>
            <a:ext cx="1097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26E82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1837944"/>
            <a:ext cx="3977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Magnetismo en la practica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670"/>
                </a:solidFill>
                <a:latin typeface="Calibri"/>
              </a:rPr>
              <a:t>Generadores y motores electricos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82112"/>
            <a:ext cx="5440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C"/>
            </a:solidFill>
          </a:ln>
          <a:effectLst/>
          <a:effectLst>
            <a:outerShdw blurRad="90000" dist="40000" dir="5400000" rotWithShape="0">
              <a:srgbClr val="1F2A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182112"/>
            <a:ext cx="128016" cy="132588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3346704"/>
            <a:ext cx="1097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26E82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3419856"/>
            <a:ext cx="3977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Los imanes y el campo magnetico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670"/>
                </a:solidFill>
                <a:latin typeface="Calibri"/>
              </a:rPr>
              <a:t>Materiales magneticos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182112"/>
            <a:ext cx="5440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C"/>
            </a:solidFill>
          </a:ln>
          <a:effectLst/>
          <a:effectLst>
            <a:outerShdw blurRad="90000" dist="40000" dir="5400000" rotWithShape="0">
              <a:srgbClr val="1F2A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3182112"/>
            <a:ext cx="128016" cy="132588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11696" y="3346704"/>
            <a:ext cx="1097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26E82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80" y="3419856"/>
            <a:ext cx="3977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Imanes permanentes y temporales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670"/>
                </a:solidFill>
                <a:latin typeface="Calibri"/>
              </a:rPr>
              <a:t>Tipos y aplicaciones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764024"/>
            <a:ext cx="5440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C"/>
            </a:solidFill>
          </a:ln>
          <a:effectLst/>
          <a:effectLst>
            <a:outerShdw blurRad="90000" dist="40000" dir="5400000" rotWithShape="0">
              <a:srgbClr val="1F2A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764024"/>
            <a:ext cx="128016" cy="132588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4928616"/>
            <a:ext cx="1097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26E82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5001768"/>
            <a:ext cx="3977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Flujo magnetico y Faraday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670"/>
                </a:solidFill>
                <a:latin typeface="Calibri"/>
              </a:rPr>
              <a:t>Lineas de fuerza y densidad de flujo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764024"/>
            <a:ext cx="5440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C"/>
            </a:solidFill>
          </a:ln>
          <a:effectLst/>
          <a:effectLst>
            <a:outerShdw blurRad="90000" dist="40000" dir="5400000" rotWithShape="0">
              <a:srgbClr val="1F2A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4764024"/>
            <a:ext cx="128016" cy="132588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11696" y="4928616"/>
            <a:ext cx="1097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26E82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80" y="5001768"/>
            <a:ext cx="3977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Glosario tecnico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670"/>
                </a:solidFill>
                <a:latin typeface="Calibri"/>
              </a:rPr>
              <a:t>Definiciones clave del modulo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1089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26E82"/>
                </a:solidFill>
                <a:latin typeface="Calibri"/>
              </a:rPr>
              <a:t>01 · CONCEPTO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6692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F2A44"/>
                </a:solidFill>
                <a:latin typeface="Calibri"/>
              </a:rPr>
              <a:t>Que es el magnetismo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207008"/>
            <a:ext cx="12191695" cy="279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207008"/>
            <a:ext cx="2926080" cy="2794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0"/>
                </a:solidFill>
                <a:latin typeface="Calibri"/>
              </a:rPr>
              <a:t>Fundamentos de Transformadores  |  Principios y Aplicaciones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E87A22"/>
                </a:solidFill>
                <a:latin typeface="Calibri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554480"/>
            <a:ext cx="5074920" cy="44805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  <a:effectLst>
            <a:outerShdw blurRad="90000" dist="40000" dir="5400000" rotWithShape="0">
              <a:srgbClr val="1F2A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554480"/>
            <a:ext cx="5074920" cy="146304"/>
          </a:xfrm>
          <a:prstGeom prst="round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6596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A64B"/>
                </a:solidFill>
                <a:latin typeface="Calibri"/>
              </a:rPr>
              <a:t>DEFINICION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23160"/>
            <a:ext cx="4526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El magnetismo es una fuerza invisible mediante la cual los materiales se atraen o se repelen entre si.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" y="4114800"/>
            <a:ext cx="1371600" cy="2794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389120"/>
            <a:ext cx="4526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9D3DE"/>
                </a:solidFill>
                <a:latin typeface="Calibri"/>
              </a:rPr>
              <a:t>Es la base para producir la mayor parte de la electricidad que consumimos y para generar movimiento en maquinas electricas.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600200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26E82"/>
                </a:solidFill>
                <a:latin typeface="Calibri"/>
              </a:rPr>
              <a:t>El magnetismo permite: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148840"/>
            <a:ext cx="5532120" cy="107899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109728" cy="1078992"/>
          </a:xfrm>
          <a:prstGeom prst="rect">
            <a:avLst/>
          </a:prstGeom>
          <a:solidFill>
            <a:srgbClr val="12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295144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F2A44"/>
                </a:solidFill>
                <a:latin typeface="Calibri"/>
              </a:rPr>
              <a:t>Generar electricidad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660904"/>
            <a:ext cx="5074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670"/>
                </a:solidFill>
                <a:latin typeface="Calibri"/>
              </a:rPr>
              <a:t>Produce la mayor parte de la energia electrica que se consume.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3429000"/>
            <a:ext cx="5532120" cy="107899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0" y="3429000"/>
            <a:ext cx="109728" cy="1078992"/>
          </a:xfrm>
          <a:prstGeom prst="rect">
            <a:avLst/>
          </a:prstGeom>
          <a:solidFill>
            <a:srgbClr val="12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575304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F2A44"/>
                </a:solidFill>
                <a:latin typeface="Calibri"/>
              </a:rPr>
              <a:t>Movimiento rotativo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941064"/>
            <a:ext cx="5074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670"/>
                </a:solidFill>
                <a:latin typeface="Calibri"/>
              </a:rPr>
              <a:t>Desarrolla el giro en los motores electricos.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4709160"/>
            <a:ext cx="5532120" cy="1078992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0" y="4709160"/>
            <a:ext cx="109728" cy="1078992"/>
          </a:xfrm>
          <a:prstGeom prst="rect">
            <a:avLst/>
          </a:prstGeom>
          <a:solidFill>
            <a:srgbClr val="12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855464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F2A44"/>
                </a:solidFill>
                <a:latin typeface="Calibri"/>
              </a:rPr>
              <a:t>Movimiento lineal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221224"/>
            <a:ext cx="5074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670"/>
                </a:solidFill>
                <a:latin typeface="Calibri"/>
              </a:rPr>
              <a:t>Genera desplazamiento lineal en los solenoides.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1089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26E82"/>
                </a:solidFill>
                <a:latin typeface="Calibri"/>
              </a:rPr>
              <a:t>02 · APLICACION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6692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F2A44"/>
                </a:solidFill>
                <a:latin typeface="Calibri"/>
              </a:rPr>
              <a:t>Generadores y motores electricos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207008"/>
            <a:ext cx="12191695" cy="279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207008"/>
            <a:ext cx="2926080" cy="2794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0"/>
                </a:solidFill>
                <a:latin typeface="Calibri"/>
              </a:rPr>
              <a:t>Fundamentos de Transformadores  |  Principios y Aplicaciones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E87A22"/>
                </a:solidFill>
                <a:latin typeface="Calibri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8132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B6670"/>
                </a:solidFill>
                <a:latin typeface="Calibri"/>
              </a:rPr>
              <a:t>Los generadores y los motores electricos operan bajo los mismos principios basicos del magnetismo.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194560"/>
            <a:ext cx="5440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C"/>
            </a:solidFill>
          </a:ln>
          <a:effectLst/>
          <a:effectLst>
            <a:outerShdw blurRad="90000" dist="40000" dir="5400000" rotWithShape="0">
              <a:srgbClr val="1F2A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640080" y="2194560"/>
            <a:ext cx="5440680" cy="777240"/>
          </a:xfrm>
          <a:prstGeom prst="round2SameRect">
            <a:avLst/>
          </a:prstGeom>
          <a:solidFill>
            <a:srgbClr val="12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286000"/>
            <a:ext cx="4754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GENERADOR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546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26E82"/>
                </a:solidFill>
                <a:latin typeface="Calibri"/>
              </a:rPr>
              <a:t>Convierte movimiento en electricidad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57600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32A33"/>
                </a:solidFill>
                <a:latin typeface="Calibri"/>
              </a:rPr>
              <a:t>Utiliza el magnetismo para producir energia electrica a partir del movimiento mecanico.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194560"/>
            <a:ext cx="5440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C"/>
            </a:solidFill>
          </a:ln>
          <a:effectLst/>
          <a:effectLst>
            <a:outerShdw blurRad="90000" dist="40000" dir="5400000" rotWithShape="0">
              <a:srgbClr val="1F2A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492240" y="2194560"/>
            <a:ext cx="5440680" cy="777240"/>
          </a:xfrm>
          <a:prstGeom prst="round2Same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286000"/>
            <a:ext cx="4754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MOTOR ELECTRICO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1546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87A22"/>
                </a:solidFill>
                <a:latin typeface="Calibri"/>
              </a:rPr>
              <a:t>Convierte electricidad en movimiento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657600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32A33"/>
                </a:solidFill>
                <a:latin typeface="Calibri"/>
              </a:rPr>
              <a:t>Emplea la energia electrica para desarrollar electromagnetismo en su interior, que hace girar el eje del motor.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57800"/>
            <a:ext cx="10927080" cy="86868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257800"/>
            <a:ext cx="128016" cy="86868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257800"/>
            <a:ext cx="10332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1">
                <a:solidFill>
                  <a:srgbClr val="FFFFFF"/>
                </a:solidFill>
                <a:latin typeface="Calibri"/>
              </a:rPr>
              <a:t>La intensidad de las fuerzas magneticas determina el torque que el eje del motor puede entregar.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1089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26E82"/>
                </a:solidFill>
                <a:latin typeface="Calibri"/>
              </a:rPr>
              <a:t>03 · MATERIALES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6692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F2A44"/>
                </a:solidFill>
                <a:latin typeface="Calibri"/>
              </a:rPr>
              <a:t>Los imanes y el campo magnetico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207008"/>
            <a:ext cx="12191695" cy="279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207008"/>
            <a:ext cx="2926080" cy="2794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0"/>
                </a:solidFill>
                <a:latin typeface="Calibri"/>
              </a:rPr>
              <a:t>Fundamentos de Transformadores  |  Principios y Aplicaciones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E87A22"/>
                </a:solidFill>
                <a:latin typeface="Calibri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554480"/>
            <a:ext cx="5120640" cy="1874519"/>
          </a:xfrm>
          <a:prstGeom prst="roundRect">
            <a:avLst/>
          </a:prstGeom>
          <a:solidFill>
            <a:srgbClr val="126E82"/>
          </a:solidFill>
          <a:ln>
            <a:noFill/>
          </a:ln>
          <a:effectLst/>
          <a:effectLst>
            <a:outerShdw blurRad="90000" dist="40000" dir="5400000" rotWithShape="0">
              <a:srgbClr val="1F2A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78308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03120"/>
            <a:ext cx="4526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Material que produce un campo magnetico.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11880"/>
            <a:ext cx="5120640" cy="1874519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  <a:effectLst>
            <a:outerShdw blurRad="90000" dist="40000" dir="5400000" rotWithShape="0">
              <a:srgbClr val="1F2A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4048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A64B"/>
                </a:solidFill>
                <a:latin typeface="Calibri"/>
              </a:rPr>
              <a:t>CAMPO MAGNETICO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160520"/>
            <a:ext cx="4526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Ejerce una fuerza sobre cargas electricas en movimiento o sobre otros imanes.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6002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26E82"/>
                </a:solidFill>
                <a:latin typeface="Calibri"/>
              </a:rPr>
              <a:t>Materiales magneticos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01168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670"/>
                </a:solidFill>
                <a:latin typeface="Calibri"/>
              </a:rPr>
              <a:t>La mayoria de los imanes se fabrican con aleaciones de distintos materiales magneticos.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743200"/>
            <a:ext cx="544068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2743200"/>
            <a:ext cx="109728" cy="1371600"/>
          </a:xfrm>
          <a:prstGeom prst="rect">
            <a:avLst/>
          </a:prstGeom>
          <a:solidFill>
            <a:srgbClr val="12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90779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Comunes (naturales)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9184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26E82"/>
                </a:solidFill>
                <a:latin typeface="Calibri"/>
              </a:rPr>
              <a:t>Hierro  ·  Niquel  ·  Cobalto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4297680"/>
            <a:ext cx="544068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4297680"/>
            <a:ext cx="109728" cy="137160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46227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2A44"/>
                </a:solidFill>
                <a:latin typeface="Calibri"/>
              </a:rPr>
              <a:t>Menos comunes (tierras raras)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84632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87A22"/>
                </a:solidFill>
                <a:latin typeface="Calibri"/>
              </a:rPr>
              <a:t>Neodimio  ·  Samario  ·  otros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1089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26E82"/>
                </a:solidFill>
                <a:latin typeface="Calibri"/>
              </a:rPr>
              <a:t>04 · CLASIFICACION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6692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F2A44"/>
                </a:solidFill>
                <a:latin typeface="Calibri"/>
              </a:rPr>
              <a:t>Imanes permanentes y temporales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207008"/>
            <a:ext cx="12191695" cy="279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207008"/>
            <a:ext cx="2926080" cy="2794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0"/>
                </a:solidFill>
                <a:latin typeface="Calibri"/>
              </a:rPr>
              <a:t>Fundamentos de Transformadores  |  Principios y Aplicaciones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E87A22"/>
                </a:solidFill>
                <a:latin typeface="Calibri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554480"/>
            <a:ext cx="5440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C"/>
            </a:solidFill>
          </a:ln>
          <a:effectLst/>
          <a:effectLst>
            <a:outerShdw blurRad="90000" dist="40000" dir="5400000" rotWithShape="0">
              <a:srgbClr val="1F2A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640080" y="1554480"/>
            <a:ext cx="5440680" cy="868680"/>
          </a:xfrm>
          <a:prstGeom prst="round2SameRect">
            <a:avLst/>
          </a:prstGeom>
          <a:solidFill>
            <a:srgbClr val="12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627632"/>
            <a:ext cx="4754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IMAN PERMANENTE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606040"/>
            <a:ext cx="4709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26E82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32A33"/>
                </a:solidFill>
                <a:latin typeface="Calibri"/>
              </a:rPr>
              <a:t>Conserva su magnetismo durante un periodo prolongado.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26E82"/>
                </a:solidFill>
                <a:latin typeface="Calibri"/>
              </a:rPr>
              <a:t>■  </a:t>
            </a:r>
            <a:r>
              <a:rPr sz="1400" b="1" i="0">
                <a:solidFill>
                  <a:srgbClr val="232A33"/>
                </a:solidFill>
                <a:latin typeface="Calibri"/>
              </a:rPr>
              <a:t>Tipos: </a:t>
            </a:r>
            <a:r>
              <a:rPr sz="1400" b="0" i="0">
                <a:solidFill>
                  <a:srgbClr val="232A33"/>
                </a:solidFill>
                <a:latin typeface="Calibri"/>
              </a:rPr>
              <a:t>naturales (magnetita) y fabricados.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26E82"/>
                </a:solidFill>
                <a:latin typeface="Calibri"/>
              </a:rPr>
              <a:t>■  </a:t>
            </a:r>
            <a:r>
              <a:rPr sz="1400" b="1" i="0">
                <a:solidFill>
                  <a:srgbClr val="232A33"/>
                </a:solidFill>
                <a:latin typeface="Calibri"/>
              </a:rPr>
              <a:t>Aplicaciones: </a:t>
            </a:r>
            <a:r>
              <a:rPr sz="1400" b="0" i="0">
                <a:solidFill>
                  <a:srgbClr val="232A33"/>
                </a:solidFill>
                <a:latin typeface="Calibri"/>
              </a:rPr>
              <a:t>motores CC de iman permanente e interruptores de lengueta (reed).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26E82"/>
                </a:solidFill>
                <a:latin typeface="Calibri"/>
              </a:rPr>
              <a:t>■  </a:t>
            </a:r>
            <a:r>
              <a:rPr sz="1400" b="1" i="0">
                <a:solidFill>
                  <a:srgbClr val="232A33"/>
                </a:solidFill>
                <a:latin typeface="Calibri"/>
              </a:rPr>
              <a:t>Ejemplos comunes: </a:t>
            </a:r>
            <a:r>
              <a:rPr sz="1400" b="0" i="0">
                <a:solidFill>
                  <a:srgbClr val="232A33"/>
                </a:solidFill>
                <a:latin typeface="Calibri"/>
              </a:rPr>
              <a:t>imanes de herradura, brujulas e imanes de barra.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3952" y="1554480"/>
            <a:ext cx="5440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C"/>
            </a:solidFill>
          </a:ln>
          <a:effectLst/>
          <a:effectLst>
            <a:outerShdw blurRad="90000" dist="40000" dir="5400000" rotWithShape="0">
              <a:srgbClr val="1F2A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473952" y="1554480"/>
            <a:ext cx="5440680" cy="868680"/>
          </a:xfrm>
          <a:prstGeom prst="round2Same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1627632"/>
            <a:ext cx="4754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IMAN TEMPORAL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606040"/>
            <a:ext cx="4709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87A22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232A33"/>
                </a:solidFill>
                <a:latin typeface="Calibri"/>
              </a:rPr>
              <a:t>Retiene solo trazas de magnetismo al retirar la fuerza magnetizante.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87A22"/>
                </a:solidFill>
                <a:latin typeface="Calibri"/>
              </a:rPr>
              <a:t>■  </a:t>
            </a:r>
            <a:r>
              <a:rPr sz="1400" b="1" i="0">
                <a:solidFill>
                  <a:srgbClr val="232A33"/>
                </a:solidFill>
                <a:latin typeface="Calibri"/>
              </a:rPr>
              <a:t>Retentividad: </a:t>
            </a:r>
            <a:r>
              <a:rPr sz="1400" b="0" i="0">
                <a:solidFill>
                  <a:srgbClr val="232A33"/>
                </a:solidFill>
                <a:latin typeface="Calibri"/>
              </a:rPr>
              <a:t>mide la capacidad del iman de conservar magnetismo.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87A22"/>
                </a:solidFill>
                <a:latin typeface="Calibri"/>
              </a:rPr>
              <a:t>■  </a:t>
            </a:r>
            <a:r>
              <a:rPr sz="1400" b="1" i="0">
                <a:solidFill>
                  <a:srgbClr val="232A33"/>
                </a:solidFill>
                <a:latin typeface="Calibri"/>
              </a:rPr>
              <a:t>Aplicaciones: </a:t>
            </a:r>
            <a:r>
              <a:rPr sz="1400" b="0" i="0">
                <a:solidFill>
                  <a:srgbClr val="232A33"/>
                </a:solidFill>
                <a:latin typeface="Calibri"/>
              </a:rPr>
              <a:t>motores, transformadores y solenoides.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87A22"/>
                </a:solidFill>
                <a:latin typeface="Calibri"/>
              </a:rPr>
              <a:t>■  </a:t>
            </a:r>
            <a:r>
              <a:rPr sz="1400" b="1" i="0">
                <a:solidFill>
                  <a:srgbClr val="232A33"/>
                </a:solidFill>
                <a:latin typeface="Calibri"/>
              </a:rPr>
              <a:t>Mas comunes: </a:t>
            </a:r>
            <a:r>
              <a:rPr sz="1400" b="0" i="0">
                <a:solidFill>
                  <a:srgbClr val="232A33"/>
                </a:solidFill>
                <a:latin typeface="Calibri"/>
              </a:rPr>
              <a:t>bobinas conductoras usadas como electroimanes.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1089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26E82"/>
                </a:solidFill>
                <a:latin typeface="Calibri"/>
              </a:rPr>
              <a:t>05 · FLUJO 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6692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F2A44"/>
                </a:solidFill>
                <a:latin typeface="Calibri"/>
              </a:rPr>
              <a:t>Flujo magnetico y Michael Faraday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207008"/>
            <a:ext cx="12191695" cy="279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207008"/>
            <a:ext cx="2926080" cy="2794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0"/>
                </a:solidFill>
                <a:latin typeface="Calibri"/>
              </a:rPr>
              <a:t>Fundamentos de Transformadores  |  Principios y Aplicaciones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E87A22"/>
                </a:solidFill>
                <a:latin typeface="Calibri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554480"/>
            <a:ext cx="3657600" cy="448056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  <a:effectLst>
            <a:outerShdw blurRad="90000" dist="40000" dir="5400000" rotWithShape="0">
              <a:srgbClr val="1F2A4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554480"/>
            <a:ext cx="3657600" cy="146304"/>
          </a:xfrm>
          <a:prstGeom prst="round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37360" y="1965960"/>
            <a:ext cx="1463040" cy="1463040"/>
          </a:xfrm>
          <a:prstGeom prst="ellipse">
            <a:avLst/>
          </a:prstGeom>
          <a:solidFill>
            <a:srgbClr val="12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1965960"/>
            <a:ext cx="146304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MF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118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Michael Faraday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77639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F5A64B"/>
                </a:solidFill>
                <a:latin typeface="Calibri"/>
              </a:rPr>
              <a:t>Cientifico ingles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3108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9D3DE"/>
                </a:solidFill>
                <a:latin typeface="Calibri"/>
              </a:rPr>
              <a:t>Sus descubrimientos incluyeron la induccion electromagnetica y la rotacion electromagnetica. Propuso el concepto de campo magnetico para visualizarlo.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1554480"/>
            <a:ext cx="7040880" cy="21488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1554480"/>
            <a:ext cx="128016" cy="2148840"/>
          </a:xfrm>
          <a:prstGeom prst="rect">
            <a:avLst/>
          </a:prstGeom>
          <a:solidFill>
            <a:srgbClr val="12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1783080"/>
            <a:ext cx="6492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26E82"/>
                </a:solidFill>
                <a:latin typeface="Calibri"/>
              </a:rPr>
              <a:t>Flujo magnetico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240280"/>
            <a:ext cx="6492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32A33"/>
                </a:solidFill>
                <a:latin typeface="Calibri"/>
              </a:rPr>
              <a:t>Tambien llamado </a:t>
            </a:r>
            <a:r>
              <a:rPr sz="1400" b="1" i="1">
                <a:solidFill>
                  <a:srgbClr val="232A33"/>
                </a:solidFill>
                <a:latin typeface="Calibri"/>
              </a:rPr>
              <a:t>flujo de campo</a:t>
            </a:r>
            <a:r>
              <a:rPr sz="1400" b="0" i="0">
                <a:solidFill>
                  <a:srgbClr val="232A33"/>
                </a:solidFill>
                <a:latin typeface="Calibri"/>
              </a:rPr>
              <a:t>. Es la cantidad total de un campo magnetico, representada como </a:t>
            </a:r>
            <a:r>
              <a:rPr sz="1400" b="1" i="0">
                <a:solidFill>
                  <a:srgbClr val="1F2A44"/>
                </a:solidFill>
                <a:latin typeface="Calibri"/>
              </a:rPr>
              <a:t>lineas de fuerza</a:t>
            </a:r>
            <a:r>
              <a:rPr sz="1400" b="0" i="0">
                <a:solidFill>
                  <a:srgbClr val="232A33"/>
                </a:solidFill>
                <a:latin typeface="Calibr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886200"/>
            <a:ext cx="7040880" cy="21488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80" y="3886200"/>
            <a:ext cx="128016" cy="214884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4114800"/>
            <a:ext cx="6492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87A22"/>
                </a:solidFill>
                <a:latin typeface="Calibri"/>
              </a:rPr>
              <a:t>Densidad de flujo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572000"/>
            <a:ext cx="6492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32A33"/>
                </a:solidFill>
                <a:latin typeface="Calibri"/>
              </a:rPr>
              <a:t>Es la densidad del flujo magnetico en un area especifica. A mayor concentracion, </a:t>
            </a:r>
            <a:r>
              <a:rPr sz="1400" b="1" i="0">
                <a:solidFill>
                  <a:srgbClr val="1F2A44"/>
                </a:solidFill>
                <a:latin typeface="Calibri"/>
              </a:rPr>
              <a:t>mayor fuerza magnetica</a:t>
            </a:r>
            <a:r>
              <a:rPr sz="1400" b="0" i="0">
                <a:solidFill>
                  <a:srgbClr val="232A33"/>
                </a:solidFill>
                <a:latin typeface="Calibri"/>
              </a:rPr>
              <a:t>. El flujo es mas denso en los extremos: la fuerza es maxima en los </a:t>
            </a:r>
            <a:r>
              <a:rPr sz="1400" b="1" i="0">
                <a:solidFill>
                  <a:srgbClr val="1F2A44"/>
                </a:solidFill>
                <a:latin typeface="Calibri"/>
              </a:rPr>
              <a:t>polos del iman</a:t>
            </a:r>
            <a:r>
              <a:rPr sz="1400" b="0" i="0">
                <a:solidFill>
                  <a:srgbClr val="232A33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1089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26E82"/>
                </a:solidFill>
                <a:latin typeface="Calibri"/>
              </a:rPr>
              <a:t>06 · REFERENCIA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6692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1F2A44"/>
                </a:solidFill>
                <a:latin typeface="Calibri"/>
              </a:rPr>
              <a:t>Glosario tecnico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207008"/>
            <a:ext cx="12191695" cy="279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207008"/>
            <a:ext cx="2926080" cy="2794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670"/>
                </a:solidFill>
                <a:latin typeface="Calibri"/>
              </a:rPr>
              <a:t>Fundamentos de Transformadores  |  Principios y Aplicaciones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E87A22"/>
                </a:solidFill>
                <a:latin typeface="Calibri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554480"/>
            <a:ext cx="5440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554480"/>
            <a:ext cx="109728" cy="1078992"/>
          </a:xfrm>
          <a:prstGeom prst="rect">
            <a:avLst/>
          </a:prstGeom>
          <a:solidFill>
            <a:srgbClr val="12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1673352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2A44"/>
                </a:solidFill>
                <a:latin typeface="Calibri"/>
              </a:rPr>
              <a:t>Magnetismo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029968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Fuerza invisible por la que los materiales se atraen o se repelen.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54480"/>
            <a:ext cx="5440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554480"/>
            <a:ext cx="109728" cy="1078992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1673352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2A44"/>
                </a:solidFill>
                <a:latin typeface="Calibri"/>
              </a:rPr>
              <a:t>Iman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1696" y="2029968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Material que produce un campo magnetico.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798064"/>
            <a:ext cx="5440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798064"/>
            <a:ext cx="109728" cy="1078992"/>
          </a:xfrm>
          <a:prstGeom prst="rect">
            <a:avLst/>
          </a:prstGeom>
          <a:solidFill>
            <a:srgbClr val="12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2916936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2A44"/>
                </a:solidFill>
                <a:latin typeface="Calibri"/>
              </a:rPr>
              <a:t>Campo magnetico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273552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Ejerce fuerza sobre cargas en movimiento u otros imanes.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798064"/>
            <a:ext cx="5440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2798064"/>
            <a:ext cx="109728" cy="1078992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11696" y="2916936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2A44"/>
                </a:solidFill>
                <a:latin typeface="Calibri"/>
              </a:rPr>
              <a:t>Iman permanente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1696" y="3273552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Conserva su magnetismo durante un periodo prolongado.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041648"/>
            <a:ext cx="5440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041648"/>
            <a:ext cx="109728" cy="1078992"/>
          </a:xfrm>
          <a:prstGeom prst="rect">
            <a:avLst/>
          </a:prstGeom>
          <a:solidFill>
            <a:srgbClr val="12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4160520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2A44"/>
                </a:solidFill>
                <a:latin typeface="Calibri"/>
              </a:rPr>
              <a:t>Iman temporal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" y="4517136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Retiene solo trazas de magnetismo al retirar la fuerza magnetizante.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041648"/>
            <a:ext cx="5440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4041648"/>
            <a:ext cx="109728" cy="1078992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11696" y="4160520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2A44"/>
                </a:solidFill>
                <a:latin typeface="Calibri"/>
              </a:rPr>
              <a:t>Retentividad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11696" y="4517136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Capacidad de un iman de conservar el magnetismo.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285232"/>
            <a:ext cx="5440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5285232"/>
            <a:ext cx="109728" cy="1078992"/>
          </a:xfrm>
          <a:prstGeom prst="rect">
            <a:avLst/>
          </a:prstGeom>
          <a:solidFill>
            <a:srgbClr val="12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" y="5404104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2A44"/>
                </a:solidFill>
                <a:latin typeface="Calibri"/>
              </a:rPr>
              <a:t>Flujo magnetico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" y="5760720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Cantidad total del campo, mostrada como lineas de fuerza.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5285232"/>
            <a:ext cx="54406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5285232"/>
            <a:ext cx="109728" cy="1078992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5404104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2A44"/>
                </a:solidFill>
                <a:latin typeface="Calibri"/>
              </a:rPr>
              <a:t>Densidad de flujo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11696" y="5760720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670"/>
                </a:solidFill>
                <a:latin typeface="Calibri"/>
              </a:rPr>
              <a:t>Densidad del flujo magnetico en un area especifica.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59" y="2057400"/>
            <a:ext cx="2743200" cy="2743200"/>
          </a:xfrm>
          <a:prstGeom prst="ellipse">
            <a:avLst/>
          </a:prstGeom>
          <a:noFill/>
          <a:ln w="13970">
            <a:solidFill>
              <a:srgbClr val="12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0139" y="2354580"/>
            <a:ext cx="2148840" cy="2148840"/>
          </a:xfrm>
          <a:prstGeom prst="ellipse">
            <a:avLst/>
          </a:prstGeom>
          <a:noFill/>
          <a:ln w="13970">
            <a:solidFill>
              <a:srgbClr val="12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17319" y="2651760"/>
            <a:ext cx="1554480" cy="1554480"/>
          </a:xfrm>
          <a:prstGeom prst="ellipse">
            <a:avLst/>
          </a:prstGeom>
          <a:noFill/>
          <a:ln w="13970">
            <a:solidFill>
              <a:srgbClr val="12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286000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Ideas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4176" y="3154680"/>
            <a:ext cx="1828800" cy="3175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94176" y="3593592"/>
            <a:ext cx="164592" cy="164592"/>
          </a:xfrm>
          <a:prstGeom prst="ellipse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3520440"/>
            <a:ext cx="7498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D7DEE8"/>
                </a:solidFill>
                <a:latin typeface="Calibri"/>
              </a:rPr>
              <a:t>El magnetismo es la base de la generacion de energia y del movimiento en maquinas electricas.</a:t>
            </a:r>
          </a:p>
        </p:txBody>
      </p:sp>
      <p:sp>
        <p:nvSpPr>
          <p:cNvPr id="11" name="Oval 10"/>
          <p:cNvSpPr/>
          <p:nvPr/>
        </p:nvSpPr>
        <p:spPr>
          <a:xfrm>
            <a:off x="3694176" y="4434840"/>
            <a:ext cx="164592" cy="164592"/>
          </a:xfrm>
          <a:prstGeom prst="ellipse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4361688"/>
            <a:ext cx="7498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D7DEE8"/>
                </a:solidFill>
                <a:latin typeface="Calibri"/>
              </a:rPr>
              <a:t>Los imanes pueden ser permanentes o temporales segun su retentividad.</a:t>
            </a:r>
          </a:p>
        </p:txBody>
      </p:sp>
      <p:sp>
        <p:nvSpPr>
          <p:cNvPr id="13" name="Oval 12"/>
          <p:cNvSpPr/>
          <p:nvPr/>
        </p:nvSpPr>
        <p:spPr>
          <a:xfrm>
            <a:off x="3694176" y="5276088"/>
            <a:ext cx="164592" cy="164592"/>
          </a:xfrm>
          <a:prstGeom prst="ellipse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5202936"/>
            <a:ext cx="7498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D7DEE8"/>
                </a:solidFill>
                <a:latin typeface="Calibri"/>
              </a:rPr>
              <a:t>El flujo y su densidad explican por que la fuerza es maxima en los polos.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6172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AFBCCB"/>
                </a:solidFill>
                <a:latin typeface="Calibri"/>
              </a:rPr>
              <a:t>Gracias  ·  Fundamentos de Transformadores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